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Alice" pitchFamily="2" charset="0"/>
      <p:regular r:id="rId11"/>
    </p:embeddedFont>
    <p:embeddedFont>
      <p:font typeface="Lora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66E48-2BAB-5046-AAF1-00FDF3A82B1D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03CA3-E4B7-C743-B789-BF57FF6F646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9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12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ansplant-observatory.org" TargetMode="Externa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3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330" y="609719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SMART ORGAN DONATION AND TRANSPLANT SYSTEM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2330" y="2327672"/>
            <a:ext cx="7592139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KOLHAPUR INSTITUTE OF TECHNOLOGY'S COLLEGE OF ENGINEERING, KOLHAPUR.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62330" y="3286363"/>
            <a:ext cx="759213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 of CSE(AIML)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404830" y="3997571"/>
            <a:ext cx="759213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by: A54-Sanika Shinde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404830" y="4379957"/>
            <a:ext cx="7592139" cy="407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          A64-Vaishnavi Benake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404830" y="4748700"/>
            <a:ext cx="759213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A45-Sakshi Patil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404829" y="5215869"/>
            <a:ext cx="759213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A71-Purva Marve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45223" y="7024078"/>
            <a:ext cx="7592139" cy="35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 guidance of: Mr. </a:t>
            </a:r>
            <a:r>
              <a:rPr lang="en-US" sz="17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Avinash</a:t>
            </a: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7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Bhudargade</a:t>
            </a: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</a:p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      Mr. Nikhil </a:t>
            </a:r>
            <a:r>
              <a:rPr lang="en-US" sz="17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Bhosale</a:t>
            </a:r>
            <a:endParaRPr lang="en-US" sz="1700" dirty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                       Mrs. Ujjwala Salunkhe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 flipV="1">
            <a:off x="6262330" y="7219356"/>
            <a:ext cx="7592139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593733-8A9A-5641-7E37-5D7D68E16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184" y="7219356"/>
            <a:ext cx="4434215" cy="1010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476" y="447437"/>
            <a:ext cx="8418314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Introduction: Revolutionizing Organ Donation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9476" y="1281351"/>
            <a:ext cx="1349144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 donation is a life-saving procedure that requires timely and accurate donor-recipient matching.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9476" y="1598652"/>
            <a:ext cx="1349144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 systems face delays due to manual coordination and lack of transparency.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9476" y="1915954"/>
            <a:ext cx="1349144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Many patients die while waiting for compatible donors due to poor communication between hospitals and registries.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9476" y="2233255"/>
            <a:ext cx="1349144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can play a key role in streamlining the organ donation and transplantation process.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9476" y="2550557"/>
            <a:ext cx="1349144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smart, automated system can enhance efficiency, transparency, and fairness in organ 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9476" y="3140393"/>
            <a:ext cx="231124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441" y="3176945"/>
            <a:ext cx="6822519" cy="455402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64804" y="3140393"/>
            <a:ext cx="231124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4C0647-C76E-EBBC-88CB-389C69F8E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6718" y="7301122"/>
            <a:ext cx="3063682" cy="859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662" y="851178"/>
            <a:ext cx="5169575" cy="646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Literature Review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3662" y="1910834"/>
            <a:ext cx="13183076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research into existing solutions revealed a variety of approaches, each with unique strengths and limitations, guiding our system's design.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3662" y="2805113"/>
            <a:ext cx="13183076" cy="4573310"/>
          </a:xfrm>
          <a:prstGeom prst="roundRect">
            <a:avLst>
              <a:gd name="adj" fmla="val 6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282" y="2812733"/>
            <a:ext cx="13167836" cy="594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38093" y="2944416"/>
            <a:ext cx="2216348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Author(s)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75447" y="2944416"/>
            <a:ext cx="352925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/ Model Used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25703" y="2944416"/>
            <a:ext cx="6166723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Identified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282" y="3406973"/>
            <a:ext cx="13167836" cy="925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8093" y="3538657"/>
            <a:ext cx="2216348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Sharma et al. (2021)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75447" y="3538657"/>
            <a:ext cx="352925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AI-based Matching Algorithm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25703" y="3538657"/>
            <a:ext cx="6166723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Lacked real-time data updates and integration with national health records.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282" y="4332089"/>
            <a:ext cx="13167836" cy="594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38093" y="4463772"/>
            <a:ext cx="2216348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Gupta &amp; Verma (2020)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5447" y="4463772"/>
            <a:ext cx="352925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Centralized Organ Registry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25703" y="4463772"/>
            <a:ext cx="6166723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of data manipulation and single point of failure.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282" y="4926330"/>
            <a:ext cx="13167836" cy="925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38093" y="5058013"/>
            <a:ext cx="2216348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Alzahrani et al. (2022)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75447" y="5058013"/>
            <a:ext cx="3529251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Blockchain-based Health Record Sharing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25703" y="5058013"/>
            <a:ext cx="6166723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computational cost and limited scalability in public health settings.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282" y="5851446"/>
            <a:ext cx="13167836" cy="594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38093" y="5983129"/>
            <a:ext cx="2216348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Mehta &amp; Kumar (2019)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5447" y="5983129"/>
            <a:ext cx="352925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Rule-Based Matchmaking System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25703" y="5983129"/>
            <a:ext cx="6166723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Inflexible with complex donor-recipient compatibility factors.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282" y="6445687"/>
            <a:ext cx="13167836" cy="925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38093" y="6577370"/>
            <a:ext cx="2216348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Report on Organ Donation (2020)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75447" y="6577370"/>
            <a:ext cx="3529251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Policy-Level Coordination Tools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5703" y="6577370"/>
            <a:ext cx="6166723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 technology-driven; lacks automation and smart prioritization mechanisms.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FF6748-8A8A-0BED-8847-9896A5B55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064" y="7400414"/>
            <a:ext cx="3953921" cy="758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72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Limitations of Existing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7901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matching leads to delays and human error.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38411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Poor integration across hospitals and transplant centers.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55212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transparency and accountability.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57901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real-time notifications or updates.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38411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Inadequate prioritization for emergency cases.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518922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Limited public awareness and voluntary donor registration.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88442E-BD7C-98F8-3A99-A99241DA8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61" y="7080857"/>
            <a:ext cx="3994638" cy="1093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584359"/>
            <a:ext cx="7727394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 &amp; Objectives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049417" y="1896308"/>
            <a:ext cx="12846368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current organ donation and transplant systems are slow, fragmented, and inefficient, leading to preventable loss of life due to mismatches or delays.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616" y="1660208"/>
            <a:ext cx="22860" cy="1143714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734616" y="3354824"/>
            <a:ext cx="4247078" cy="1882854"/>
          </a:xfrm>
          <a:prstGeom prst="roundRect">
            <a:avLst>
              <a:gd name="adj" fmla="val 5828"/>
            </a:avLst>
          </a:prstGeom>
          <a:solidFill>
            <a:srgbClr val="FCFBF8"/>
          </a:solidFill>
          <a:ln/>
        </p:spPr>
      </p:sp>
      <p:sp>
        <p:nvSpPr>
          <p:cNvPr id="6" name="Shape 4"/>
          <p:cNvSpPr/>
          <p:nvPr/>
        </p:nvSpPr>
        <p:spPr>
          <a:xfrm>
            <a:off x="734616" y="3331964"/>
            <a:ext cx="4247078" cy="91440"/>
          </a:xfrm>
          <a:prstGeom prst="roundRect">
            <a:avLst>
              <a:gd name="adj" fmla="val 34435"/>
            </a:avLst>
          </a:prstGeom>
          <a:solidFill>
            <a:srgbClr val="1B5F39"/>
          </a:solidFill>
          <a:ln/>
        </p:spPr>
      </p:sp>
      <p:sp>
        <p:nvSpPr>
          <p:cNvPr id="7" name="Shape 5"/>
          <p:cNvSpPr/>
          <p:nvPr/>
        </p:nvSpPr>
        <p:spPr>
          <a:xfrm>
            <a:off x="2543235" y="3040023"/>
            <a:ext cx="629722" cy="629722"/>
          </a:xfrm>
          <a:prstGeom prst="roundRect">
            <a:avLst>
              <a:gd name="adj" fmla="val 145207"/>
            </a:avLst>
          </a:prstGeom>
          <a:solidFill>
            <a:srgbClr val="1B5F3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187" y="3197423"/>
            <a:ext cx="251817" cy="3148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7383" y="3879533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Automated Platform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67383" y="4333399"/>
            <a:ext cx="3781544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a smart, automated organ donation platform.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191601" y="3354824"/>
            <a:ext cx="4247078" cy="1882854"/>
          </a:xfrm>
          <a:prstGeom prst="roundRect">
            <a:avLst>
              <a:gd name="adj" fmla="val 5828"/>
            </a:avLst>
          </a:prstGeom>
          <a:solidFill>
            <a:srgbClr val="FCFBF8"/>
          </a:solidFill>
          <a:ln/>
        </p:spPr>
      </p:sp>
      <p:sp>
        <p:nvSpPr>
          <p:cNvPr id="12" name="Shape 9"/>
          <p:cNvSpPr/>
          <p:nvPr/>
        </p:nvSpPr>
        <p:spPr>
          <a:xfrm>
            <a:off x="5191601" y="3331964"/>
            <a:ext cx="4247078" cy="91440"/>
          </a:xfrm>
          <a:prstGeom prst="roundRect">
            <a:avLst>
              <a:gd name="adj" fmla="val 34435"/>
            </a:avLst>
          </a:prstGeom>
          <a:solidFill>
            <a:srgbClr val="1B5F39"/>
          </a:solidFill>
          <a:ln/>
        </p:spPr>
      </p:sp>
      <p:sp>
        <p:nvSpPr>
          <p:cNvPr id="13" name="Shape 10"/>
          <p:cNvSpPr/>
          <p:nvPr/>
        </p:nvSpPr>
        <p:spPr>
          <a:xfrm>
            <a:off x="7000220" y="3040023"/>
            <a:ext cx="629722" cy="629722"/>
          </a:xfrm>
          <a:prstGeom prst="roundRect">
            <a:avLst>
              <a:gd name="adj" fmla="val 145207"/>
            </a:avLst>
          </a:prstGeom>
          <a:solidFill>
            <a:srgbClr val="1B5F3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172" y="3197423"/>
            <a:ext cx="251817" cy="3148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4368" y="3879533"/>
            <a:ext cx="30379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 &amp; Accurate Matching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5424368" y="4333399"/>
            <a:ext cx="3781544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 fast and accurate donor-recipient matching.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9648587" y="3354824"/>
            <a:ext cx="4247198" cy="1882854"/>
          </a:xfrm>
          <a:prstGeom prst="roundRect">
            <a:avLst>
              <a:gd name="adj" fmla="val 5828"/>
            </a:avLst>
          </a:prstGeom>
          <a:solidFill>
            <a:srgbClr val="FCFBF8"/>
          </a:solidFill>
          <a:ln/>
        </p:spPr>
      </p:sp>
      <p:sp>
        <p:nvSpPr>
          <p:cNvPr id="18" name="Shape 14"/>
          <p:cNvSpPr/>
          <p:nvPr/>
        </p:nvSpPr>
        <p:spPr>
          <a:xfrm>
            <a:off x="9648587" y="3331964"/>
            <a:ext cx="4247198" cy="91440"/>
          </a:xfrm>
          <a:prstGeom prst="roundRect">
            <a:avLst>
              <a:gd name="adj" fmla="val 34435"/>
            </a:avLst>
          </a:prstGeom>
          <a:solidFill>
            <a:srgbClr val="1B5F39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57325" y="3040023"/>
            <a:ext cx="629722" cy="629722"/>
          </a:xfrm>
          <a:prstGeom prst="roundRect">
            <a:avLst>
              <a:gd name="adj" fmla="val 145207"/>
            </a:avLst>
          </a:prstGeom>
          <a:solidFill>
            <a:srgbClr val="1B5F3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46277" y="3197423"/>
            <a:ext cx="251817" cy="3148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81354" y="3879533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Secure Transparency</a:t>
            </a:r>
            <a:endParaRPr lang="en-US" sz="2050" dirty="0"/>
          </a:p>
        </p:txBody>
      </p:sp>
      <p:sp>
        <p:nvSpPr>
          <p:cNvPr id="22" name="Text 17"/>
          <p:cNvSpPr/>
          <p:nvPr/>
        </p:nvSpPr>
        <p:spPr>
          <a:xfrm>
            <a:off x="9881354" y="4333399"/>
            <a:ext cx="3781663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transparency with secure data access.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734616" y="5762387"/>
            <a:ext cx="6475571" cy="1882854"/>
          </a:xfrm>
          <a:prstGeom prst="roundRect">
            <a:avLst>
              <a:gd name="adj" fmla="val 5828"/>
            </a:avLst>
          </a:prstGeom>
          <a:solidFill>
            <a:srgbClr val="FCFBF8"/>
          </a:solidFill>
          <a:ln/>
        </p:spPr>
      </p:sp>
      <p:sp>
        <p:nvSpPr>
          <p:cNvPr id="24" name="Shape 19"/>
          <p:cNvSpPr/>
          <p:nvPr/>
        </p:nvSpPr>
        <p:spPr>
          <a:xfrm>
            <a:off x="734616" y="5739527"/>
            <a:ext cx="6475571" cy="91440"/>
          </a:xfrm>
          <a:prstGeom prst="roundRect">
            <a:avLst>
              <a:gd name="adj" fmla="val 34435"/>
            </a:avLst>
          </a:prstGeom>
          <a:solidFill>
            <a:srgbClr val="1B5F39"/>
          </a:solidFill>
          <a:ln/>
        </p:spPr>
      </p:sp>
      <p:sp>
        <p:nvSpPr>
          <p:cNvPr id="25" name="Shape 20"/>
          <p:cNvSpPr/>
          <p:nvPr/>
        </p:nvSpPr>
        <p:spPr>
          <a:xfrm>
            <a:off x="3657540" y="5447586"/>
            <a:ext cx="629722" cy="629722"/>
          </a:xfrm>
          <a:prstGeom prst="roundRect">
            <a:avLst>
              <a:gd name="adj" fmla="val 145207"/>
            </a:avLst>
          </a:prstGeom>
          <a:solidFill>
            <a:srgbClr val="1B5F39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6493" y="5604986"/>
            <a:ext cx="251817" cy="31480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7383" y="628709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Alerts</a:t>
            </a:r>
            <a:endParaRPr lang="en-US" sz="2050" dirty="0"/>
          </a:p>
        </p:txBody>
      </p:sp>
      <p:sp>
        <p:nvSpPr>
          <p:cNvPr id="28" name="Text 22"/>
          <p:cNvSpPr/>
          <p:nvPr/>
        </p:nvSpPr>
        <p:spPr>
          <a:xfrm>
            <a:off x="967383" y="6740962"/>
            <a:ext cx="601003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real-time notifications and emergency prioritization.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7420094" y="5762387"/>
            <a:ext cx="6475690" cy="1882854"/>
          </a:xfrm>
          <a:prstGeom prst="roundRect">
            <a:avLst>
              <a:gd name="adj" fmla="val 5828"/>
            </a:avLst>
          </a:prstGeom>
          <a:solidFill>
            <a:srgbClr val="FCFBF8"/>
          </a:solidFill>
          <a:ln/>
        </p:spPr>
      </p:sp>
      <p:sp>
        <p:nvSpPr>
          <p:cNvPr id="30" name="Shape 24"/>
          <p:cNvSpPr/>
          <p:nvPr/>
        </p:nvSpPr>
        <p:spPr>
          <a:xfrm>
            <a:off x="7420094" y="5739527"/>
            <a:ext cx="6475690" cy="91440"/>
          </a:xfrm>
          <a:prstGeom prst="roundRect">
            <a:avLst>
              <a:gd name="adj" fmla="val 34435"/>
            </a:avLst>
          </a:prstGeom>
          <a:solidFill>
            <a:srgbClr val="1B5F39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43019" y="5447586"/>
            <a:ext cx="629722" cy="629722"/>
          </a:xfrm>
          <a:prstGeom prst="roundRect">
            <a:avLst>
              <a:gd name="adj" fmla="val 145207"/>
            </a:avLst>
          </a:prstGeom>
          <a:solidFill>
            <a:srgbClr val="1B5F39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1971" y="5604986"/>
            <a:ext cx="251817" cy="31480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52861" y="6287095"/>
            <a:ext cx="297346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Boost Donor Registration</a:t>
            </a:r>
            <a:endParaRPr lang="en-US" sz="2050" dirty="0"/>
          </a:p>
        </p:txBody>
      </p:sp>
      <p:sp>
        <p:nvSpPr>
          <p:cNvPr id="34" name="Text 27"/>
          <p:cNvSpPr/>
          <p:nvPr/>
        </p:nvSpPr>
        <p:spPr>
          <a:xfrm>
            <a:off x="7652861" y="6740962"/>
            <a:ext cx="6010156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Encourage more people to register as donors via digital access.</a:t>
            </a:r>
            <a:endParaRPr lang="en-US" sz="16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BB9B754-2756-7D14-1BAD-A076A1F2B3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6760" y="7196017"/>
            <a:ext cx="4016985" cy="9510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13" y="591622"/>
            <a:ext cx="5548789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Tools and Technologies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2713" y="1779746"/>
            <a:ext cx="355699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Programming Language: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Python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2713" y="2317194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development for backend logic and AI models.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2713" y="3198614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SQLite / MySQL / PostgreSQL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2713" y="4080034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storage for donor-recipient and medical data.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2713" y="4961453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Structures: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Lists, Dictionaries, Queues, Trees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2713" y="5842873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Efficient handling for matching algorithms and searches.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41915" y="1779746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Libraries (Python):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Pandas, NumPy, Scikit-learn, TensorFlow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841915" y="2661166"/>
            <a:ext cx="3556992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analysis, preprocessing, and AI/ML modeling for optimal matches.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841915" y="3886557"/>
            <a:ext cx="355699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Frameworks: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Flask / Django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841915" y="4424005"/>
            <a:ext cx="3556992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web development for RESTful APIs and admin dashboards.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841915" y="5649397"/>
            <a:ext cx="355699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(Optional):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HTML, CSS, JavaScript (with Flask)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841915" y="6530816"/>
            <a:ext cx="3556992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a user-friendly web interface for hospitals and users.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363C1A-B967-21A0-A0EC-404DA612B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57" y="7046773"/>
            <a:ext cx="4071548" cy="1031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1585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84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4DD37-86E2-C95B-C40B-1E6B930B5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102" y="7319596"/>
            <a:ext cx="3125298" cy="910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AB6A9-6856-43CB-6CF9-21A59A6BD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868" y="867352"/>
            <a:ext cx="9893542" cy="7203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4521" y="2683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– Global Observatory on Donation and Transplantation ( </a:t>
            </a:r>
            <a:r>
              <a:rPr lang="en-US" sz="1750" u="sng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www.transplant-observatory.org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“A Review on Blockchain Applications in Healthcare” – IEEE, 2021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National Organ and Tissue Transplant Organization (NOTTO), India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“AI in Organ Transplant Matching” – SpringerLink, 2020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Ministry of Health and Family Welfare, Govt. of India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papers and journals used for literature review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09291-3AA4-1754-A240-16147830C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340" y="6808012"/>
            <a:ext cx="3520965" cy="1421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97-Sakshi Lakshman Patil</cp:lastModifiedBy>
  <cp:revision>4</cp:revision>
  <dcterms:created xsi:type="dcterms:W3CDTF">2025-07-30T04:18:03Z</dcterms:created>
  <dcterms:modified xsi:type="dcterms:W3CDTF">2026-10-10T16:13:42Z</dcterms:modified>
</cp:coreProperties>
</file>